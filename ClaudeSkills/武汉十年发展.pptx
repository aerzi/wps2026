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 (亿元)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10000</c:v>
                </c:pt>
                <c:pt idx="1">
                  <c:v>11000</c:v>
                </c:pt>
                <c:pt idx="2">
                  <c:v>11900</c:v>
                </c:pt>
                <c:pt idx="3">
                  <c:v>13400</c:v>
                </c:pt>
                <c:pt idx="4">
                  <c:v>14800</c:v>
                </c:pt>
                <c:pt idx="5">
                  <c:v>16200</c:v>
                </c:pt>
                <c:pt idx="6">
                  <c:v>15600</c:v>
                </c:pt>
                <c:pt idx="7">
                  <c:v>17700</c:v>
                </c:pt>
                <c:pt idx="8">
                  <c:v>18866</c:v>
                </c:pt>
                <c:pt idx="9">
                  <c:v>20012</c:v>
                </c:pt>
                <c:pt idx="10">
                  <c:v>21106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年份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GDP (亿元)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7516439-43f6-4f46-bd70-ac108d880d3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常住人口(万人)</c:v>
                </c:pt>
              </c:strCache>
            </c:strRef>
          </c:tx>
          <c:spPr>
            <a:ln w="50800" cap="flat" cmpd="sng" algn="ctr">
              <a:solidFill>
                <a:srgbClr val="C41E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1E3A"/>
              </a:solidFill>
              <a:ln w="9525" cap="flat" cmpd="sng" algn="ctr">
                <a:solidFill>
                  <a:srgbClr val="C41E3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2012</c:v>
                </c:pt>
                <c:pt idx="1">
                  <c:v>2014</c:v>
                </c:pt>
                <c:pt idx="2">
                  <c:v>2016</c:v>
                </c:pt>
                <c:pt idx="3">
                  <c:v>2018</c:v>
                </c:pt>
                <c:pt idx="4">
                  <c:v>2020</c:v>
                </c:pt>
                <c:pt idx="5">
                  <c:v>2021</c:v>
                </c:pt>
                <c:pt idx="6">
                  <c:v>2024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1014</c:v>
                </c:pt>
                <c:pt idx="1">
                  <c:v>1060</c:v>
                </c:pt>
                <c:pt idx="2">
                  <c:v>1100</c:v>
                </c:pt>
                <c:pt idx="3">
                  <c:v>1140</c:v>
                </c:pt>
                <c:pt idx="4">
                  <c:v>1232</c:v>
                </c:pt>
                <c:pt idx="5">
                  <c:v>1365</c:v>
                </c:pt>
                <c:pt idx="6">
                  <c:v>1381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年份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  <c:min val="90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常住人口(万人)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6061834-bbb8-43a5-ba6d-c956c264f1e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2014年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光电子信息</c:v>
                </c:pt>
                <c:pt idx="1">
                  <c:v>汽车及零部件</c:v>
                </c:pt>
                <c:pt idx="2">
                  <c:v>数字经济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1140</c:v>
                </c:pt>
                <c:pt idx="1">
                  <c:v>1500</c:v>
                </c:pt>
                <c:pt idx="2">
                  <c:v>3500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光电子信息</c:v>
                </c:pt>
                <c:pt idx="1">
                  <c:v>汽车及零部件</c:v>
                </c:pt>
                <c:pt idx="2">
                  <c:v>数字经济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3000</c:v>
                </c:pt>
                <c:pt idx="1">
                  <c:v>3000</c:v>
                </c:pt>
                <c:pt idx="2">
                  <c:v>10000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产业类型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产值(亿元)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a87f8bf-7735-4593-b0d7-6304b90e9cc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地铁里程(公里)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2012</c:v>
                </c:pt>
                <c:pt idx="1">
                  <c:v>2014</c:v>
                </c:pt>
                <c:pt idx="2">
                  <c:v>2016</c:v>
                </c:pt>
                <c:pt idx="3">
                  <c:v>2018</c:v>
                </c:pt>
                <c:pt idx="4">
                  <c:v>2020</c:v>
                </c:pt>
                <c:pt idx="5">
                  <c:v>2022</c:v>
                </c:pt>
                <c:pt idx="6">
                  <c:v>2024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120</c:v>
                </c:pt>
                <c:pt idx="2">
                  <c:v>190</c:v>
                </c:pt>
                <c:pt idx="3">
                  <c:v>288</c:v>
                </c:pt>
                <c:pt idx="4">
                  <c:v>360</c:v>
                </c:pt>
                <c:pt idx="5">
                  <c:v>400</c:v>
                </c:pt>
                <c:pt idx="6">
                  <c:v>435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年份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地铁运营里程(公里)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84a936a-bfb1-4c3c-b374-f801937339e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高新技术企业(家)</c:v>
                </c:pt>
              </c:strCache>
            </c:strRef>
          </c:tx>
          <c:spPr>
            <a:ln w="50800" cap="flat" cmpd="sng" algn="ctr">
              <a:solidFill>
                <a:srgbClr val="C41E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1E3A"/>
              </a:solidFill>
              <a:ln w="9525" cap="flat" cmpd="sng" algn="ctr">
                <a:solidFill>
                  <a:srgbClr val="C41E3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1800</c:v>
                </c:pt>
                <c:pt idx="1">
                  <c:v>2400</c:v>
                </c:pt>
                <c:pt idx="2">
                  <c:v>3200</c:v>
                </c:pt>
                <c:pt idx="3">
                  <c:v>4200</c:v>
                </c:pt>
                <c:pt idx="4">
                  <c:v>5600</c:v>
                </c:pt>
                <c:pt idx="5">
                  <c:v>7200</c:v>
                </c:pt>
                <c:pt idx="6">
                  <c:v>9000</c:v>
                </c:pt>
                <c:pt idx="7">
                  <c:v>11000</c:v>
                </c:pt>
                <c:pt idx="8">
                  <c:v>12500</c:v>
                </c:pt>
                <c:pt idx="9">
                  <c:v>14500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年份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高新技术企业数量(家)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f98333d-5bb1-47b3-b5d5-2404ae19458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3657600" cy="3657600"/>
          </a:xfrm>
          <a:prstGeom prst="ellipse">
            <a:avLst/>
          </a:prstGeom>
          <a:solidFill>
            <a:srgbClr val="D4AF37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effectLst>
            <a:outerShdw blurRad="76200" dist="38100" dir="27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D700"/>
                </a:solidFill>
              </a:rPr>
              <a:t>武汉十年发展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从江城到新一线城市的跨越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F37"/>
                </a:solidFill>
              </a:rPr>
              <a:t>2014 - 2024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</a:rPr>
              <a:t>经济实力大幅提升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00400" cy="77724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</a:rPr>
              <a:t>2014年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1A1A"/>
                </a:solidFill>
              </a:rPr>
              <a:t>1.0万亿元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743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首次突破万亿大关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200400" cy="77724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640080" y="21031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</a:rPr>
              <a:t>2023年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1A1A"/>
                </a:solidFill>
              </a:rPr>
              <a:t>2.0万亿元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743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十年间GDP翻了一番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200400" cy="77724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640080" y="301752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3A"/>
                </a:solidFill>
              </a:rPr>
              <a:t>2024年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1A1A"/>
                </a:solidFill>
              </a:rPr>
              <a:t>2.11万亿元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743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同比增长5.2%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931920" y="109728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</a:rPr>
              <a:t>人口持续增长 城市吸引力增强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C41E3A"/>
          </a:solidFill>
        </p:spPr>
      </p:sp>
      <p:sp>
        <p:nvSpPr>
          <p:cNvPr id="7" name="Text 4"/>
          <p:cNvSpPr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37"/>
                </a:solidFill>
              </a:rPr>
              <a:t>常住人口增长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6002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+350万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760720" y="214884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700"/>
                </a:solidFill>
              </a:rPr>
              <a:t>2012-2021年净增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560320"/>
            <a:ext cx="2926080" cy="1280160"/>
          </a:xfrm>
          <a:prstGeom prst="roundRect">
            <a:avLst>
              <a:gd name="adj" fmla="val 10714"/>
            </a:avLst>
          </a:prstGeom>
          <a:solidFill>
            <a:srgbClr val="8B1A1A"/>
          </a:solidFill>
        </p:spPr>
      </p:sp>
      <p:sp>
        <p:nvSpPr>
          <p:cNvPr id="11" name="Text 8"/>
          <p:cNvSpPr/>
          <p:nvPr/>
        </p:nvSpPr>
        <p:spPr>
          <a:xfrm>
            <a:off x="5760720" y="27432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37"/>
                </a:solidFill>
              </a:rPr>
              <a:t>城镇化率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60720" y="306324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85.0%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5760720" y="361188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700"/>
                </a:solidFill>
              </a:rPr>
              <a:t>2024年 较2010年提升20%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</a:rPr>
              <a:t>产业转型升级 迈向高质量发展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188720"/>
            <a:ext cx="2468880" cy="82296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7" name="Shape 4"/>
          <p:cNvSpPr/>
          <p:nvPr/>
        </p:nvSpPr>
        <p:spPr>
          <a:xfrm>
            <a:off x="6217920" y="118872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8" name="Text 5"/>
          <p:cNvSpPr/>
          <p:nvPr/>
        </p:nvSpPr>
        <p:spPr>
          <a:xfrm>
            <a:off x="6400800" y="128016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</a:rPr>
              <a:t>光电子信息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55448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十年增长163%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176479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突破3000亿元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2468880" cy="82296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12" name="Shape 9"/>
          <p:cNvSpPr/>
          <p:nvPr/>
        </p:nvSpPr>
        <p:spPr>
          <a:xfrm>
            <a:off x="6217920" y="219456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3" name="Text 10"/>
          <p:cNvSpPr/>
          <p:nvPr/>
        </p:nvSpPr>
        <p:spPr>
          <a:xfrm>
            <a:off x="6400800" y="228600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</a:rPr>
              <a:t>汽车及零部件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256032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十年实现翻番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0" y="277063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跨越3000亿元台阶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3200400"/>
            <a:ext cx="2468880" cy="822960"/>
          </a:xfrm>
          <a:prstGeom prst="rect">
            <a:avLst/>
          </a:prstGeom>
          <a:solidFill>
            <a:srgbClr val="FFF8E7"/>
          </a:solidFill>
        </p:spPr>
      </p:sp>
      <p:sp>
        <p:nvSpPr>
          <p:cNvPr id="17" name="Shape 14"/>
          <p:cNvSpPr/>
          <p:nvPr/>
        </p:nvSpPr>
        <p:spPr>
          <a:xfrm>
            <a:off x="6217920" y="320040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8" name="Text 15"/>
          <p:cNvSpPr/>
          <p:nvPr/>
        </p:nvSpPr>
        <p:spPr>
          <a:xfrm>
            <a:off x="6400800" y="329184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3A"/>
                </a:solidFill>
              </a:rPr>
              <a:t>数字经济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00800" y="3566160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占GDP比重48%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377647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高新企业1.45万家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</a:rPr>
              <a:t>基础设施建设 轨道交通飞速发展</a:t>
            </a:r>
            <a:endParaRPr lang="en-US" sz="3600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097280"/>
            <a:ext cx="3200400" cy="1280160"/>
          </a:xfrm>
          <a:prstGeom prst="roundRect">
            <a:avLst>
              <a:gd name="adj" fmla="val 10714"/>
            </a:avLst>
          </a:prstGeom>
          <a:solidFill>
            <a:srgbClr val="C41E3A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1417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</a:rPr>
              <a:t>14倍</a:t>
            </a:r>
            <a:endParaRPr lang="en-US" sz="5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457200" y="210312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地铁运营里程增长</a:t>
            </a:r>
            <a:endParaRPr lang="en-US" sz="14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57200" y="2560320"/>
            <a:ext cx="3200400" cy="1280160"/>
          </a:xfrm>
          <a:prstGeom prst="roundRect">
            <a:avLst>
              <a:gd name="adj" fmla="val 10714"/>
            </a:avLst>
          </a:prstGeom>
          <a:solidFill>
            <a:srgbClr val="8B1A1A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57200" y="288036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D700"/>
                </a:solidFill>
              </a:rPr>
              <a:t>58%</a:t>
            </a:r>
            <a:endParaRPr lang="en-US" sz="56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57200" y="3566160"/>
            <a:ext cx="3200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公交出行分担率</a:t>
            </a:r>
            <a:endParaRPr lang="en-US" sz="14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931920" y="109728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700"/>
                </a:solidFill>
              </a:rPr>
              <a:t>科技创新 高新企业快速增长</a:t>
            </a:r>
            <a:endParaRPr lang="en-US" sz="3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188720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3017520" cy="3017520"/>
          </a:xfrm>
          <a:prstGeom prst="ellipse">
            <a:avLst/>
          </a:prstGeom>
          <a:solidFill>
            <a:srgbClr val="000000">
              <a:alpha val="0"/>
            </a:srgbClr>
          </a:solidFill>
          <a:ln w="508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700"/>
                </a:solidFill>
              </a:rPr>
              <a:t>十年跨越 英雄城市新征程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19456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GDP翻番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突破2万亿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19456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08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人口增长350万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城镇化率85%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219456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50876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产业升级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数字经济占比48%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651760"/>
            <a:ext cx="219456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🚇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20240" y="3200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地铁里程增长14倍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达到435公里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2651760"/>
            <a:ext cx="219456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788920"/>
            <a:ext cx="2194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89120" y="32004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高新企业1.45万家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科技创新领先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AF37"/>
                </a:solidFill>
              </a:rPr>
              <a:t>从江城到新一线 武汉正在书写高质量发展新篇章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ags/tag2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ags/tag3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ags/tag4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ags/tag5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ags/tag6.xml><?xml version="1.0" encoding="utf-8"?>
<p:tagLst xmlns:p="http://schemas.openxmlformats.org/presentationml/2006/main">
  <p:tag name="KSO_WM_DIAGRAM_VIRTUALLY_FRAME" val="{&quot;height&quot;:216,&quot;left&quot;:36,&quot;top&quot;:86.4,&quot;width&quot;:2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WPS 演示</Application>
  <PresentationFormat>On-screen Show (16:9)</PresentationFormat>
  <Paragraphs>101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等线</vt:lpstr>
      <vt:lpstr>Calibri Light</vt:lpstr>
      <vt:lpstr>等线 Light</vt:lpstr>
      <vt:lpstr>汉仪润圆-65简</vt:lpstr>
      <vt:lpstr>汉仪大宋简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武汉十年发展</dc:title>
  <dc:creator>Claude</dc:creator>
  <dc:subject>PptxGenJS Presentation</dc:subject>
  <cp:lastModifiedBy>徐嘉成</cp:lastModifiedBy>
  <cp:revision>3</cp:revision>
  <dcterms:created xsi:type="dcterms:W3CDTF">2025-10-29T18:39:00Z</dcterms:created>
  <dcterms:modified xsi:type="dcterms:W3CDTF">2025-10-29T18:43:55Z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E8E04AB8835A41019E36A87053E19A6B_12</vt:lpwstr>
  </property>
  <property fmtid="{D5CDD505-2E9C-101B-9397-08002B2CF9AE}" pid="3" name="KSOProductBuildVer">
    <vt:lpwstr>2052-12.1.0.23125</vt:lpwstr>
  </property>
</Properties>
</file>